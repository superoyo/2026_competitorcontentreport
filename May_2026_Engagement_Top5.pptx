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94A3B8"/>
            </a:solidFill>
          </c:spPr>
          <c:dPt>
            <c:idx val="0"/>
            <c:spPr>
              <a:solidFill>
                <a:srgbClr val="0891B2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EA580C"/>
              </a:solidFill>
            </c:spPr>
          </c:dPt>
          <c:dPt>
            <c:idx val="3"/>
            <c:spPr>
              <a:solidFill>
                <a:srgbClr val="7C3AED"/>
              </a:solidFill>
            </c:spPr>
          </c:dPt>
          <c:dPt>
            <c:idx val="4"/>
            <c:spPr>
              <a:solidFill>
                <a:srgbClr val="16A34A"/>
              </a:solidFill>
            </c:spPr>
          </c:dPt>
          <c:dPt>
            <c:idx val="5"/>
            <c:spPr>
              <a:solidFill>
                <a:srgbClr val="DB2777"/>
              </a:solidFill>
            </c:spPr>
          </c:dPt>
          <c:dPt>
            <c:idx val="6"/>
            <c:spPr>
              <a:solidFill>
                <a:srgbClr val="0D9488"/>
              </a:solidFill>
            </c:spPr>
          </c:dPt>
          <c:dPt>
            <c:idx val="7"/>
            <c:spPr>
              <a:solidFill>
                <a:srgbClr val="DC2626"/>
              </a:solidFill>
            </c:spPr>
          </c:dPt>
          <c:cat>
            <c:strRef>
              <c:f>Sheet1!$A$2:$A$9</c:f>
              <c:strCache>
                <c:ptCount val="8"/>
                <c:pt idx="0">
                  <c:v>Hygiene</c:v>
                </c:pt>
                <c:pt idx="1">
                  <c:v>Downy</c:v>
                </c:pt>
                <c:pt idx="2">
                  <c:v>Comfort Zone</c:v>
                </c:pt>
                <c:pt idx="3">
                  <c:v>Breeze</c:v>
                </c:pt>
                <c:pt idx="4">
                  <c:v>PAO Society</c:v>
                </c:pt>
                <c:pt idx="5">
                  <c:v>ATTACK Family</c:v>
                </c:pt>
                <c:pt idx="6">
                  <c:v>Fineline</c:v>
                </c:pt>
                <c:pt idx="7">
                  <c:v>OMO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93449</c:v>
                </c:pt>
                <c:pt idx="1">
                  <c:v>75374</c:v>
                </c:pt>
                <c:pt idx="2">
                  <c:v>23863</c:v>
                </c:pt>
                <c:pt idx="3">
                  <c:v>13054</c:v>
                </c:pt>
                <c:pt idx="4">
                  <c:v>3240</c:v>
                </c:pt>
                <c:pt idx="5">
                  <c:v>2039</c:v>
                </c:pt>
                <c:pt idx="6">
                  <c:v>1872</c:v>
                </c:pt>
                <c:pt idx="7">
                  <c:v>275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61F30"/>
                  </a:solidFill>
                  <a:latin typeface="Sarabu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3E8"/>
            </a:solidFill>
          </a:ln>
        </c:spPr>
        <c:txPr>
          <a:bodyPr/>
          <a:lstStyle/>
          <a:p>
            <a:pPr>
              <a:defRPr sz="1050">
                <a:solidFill>
                  <a:srgbClr val="161F30"/>
                </a:solidFill>
                <a:latin typeface="Sarabu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3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338559" y="-1463040"/>
            <a:ext cx="2377440" cy="2377440"/>
          </a:xfrm>
          <a:prstGeom prst="ellipse">
            <a:avLst/>
          </a:prstGeom>
          <a:noFill/>
          <a:ln w="2032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84280" y="137159"/>
            <a:ext cx="1005840" cy="1005840"/>
          </a:xfrm>
          <a:prstGeom prst="ellipse">
            <a:avLst/>
          </a:prstGeom>
          <a:noFill/>
          <a:ln w="2032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6492240"/>
            <a:ext cx="1645920" cy="1645920"/>
          </a:xfrm>
          <a:prstGeom prst="ellipse">
            <a:avLst/>
          </a:prstGeom>
          <a:noFill/>
          <a:ln w="2032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74519"/>
            <a:ext cx="822960" cy="8229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9FC9DE"/>
                </a:solidFill>
                <a:latin typeface="Prompt"/>
              </a:rPr>
              <a:t>รายงานสรุป Engagement บน 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Prompt"/>
              </a:rPr>
              <a:t>Top 5 คอนเทนต์ยอด Engagement สูงสุด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CFE7F0"/>
                </a:solidFill>
                <a:latin typeface="Prompt"/>
              </a:rPr>
              <a:t>ประจำเดือนพฤษภาคม 2569  (May 2026)  ·  8 เพจ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4855464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E7F0"/>
                </a:solidFill>
                <a:latin typeface="Sarabun"/>
              </a:rPr>
              <a:t>Downy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" y="4343400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4855464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E7F0"/>
                </a:solidFill>
                <a:latin typeface="Sarabun"/>
              </a:rPr>
              <a:t>Hygiene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4343400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4855464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E7F0"/>
                </a:solidFill>
                <a:latin typeface="Sarabun"/>
              </a:rPr>
              <a:t>PAO Society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0" y="43434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4855464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E7F0"/>
                </a:solidFill>
                <a:latin typeface="Sarabun"/>
              </a:rPr>
              <a:t>Fineline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4855464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E7F0"/>
                </a:solidFill>
                <a:latin typeface="Sarabun"/>
              </a:rPr>
              <a:t>Breeze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0" y="434340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4855464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E7F0"/>
                </a:solidFill>
                <a:latin typeface="Sarabun"/>
              </a:rPr>
              <a:t>ATTACK Family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0" y="4343400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4855464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E7F0"/>
                </a:solidFill>
                <a:latin typeface="Sarabun"/>
              </a:rPr>
              <a:t>Comfort Zone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43434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855464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E7F0"/>
                </a:solidFill>
                <a:latin typeface="Sarabun"/>
              </a:rPr>
              <a:t>OMO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3093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C9CB0"/>
                </a:solidFill>
                <a:latin typeface="Sarabun"/>
              </a:rPr>
              <a:t>ข้อมูลจากโพสต์สาธารณะบนเพจ Facebook · ดึงผ่าน Apify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0B2545"/>
                </a:solidFill>
                <a:latin typeface="Prompt"/>
              </a:rPr>
              <a:t>ภาพรวม Engagement เดือนพฤษภาคม 2569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8"/>
                </a:solidFill>
                <a:latin typeface="Sarabun"/>
              </a:rPr>
              <a:t>เปรียบเทียบยอด Engagement รวม (Likes + Comments + Shares) ทั้ง 8 เพจ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384048"/>
            <a:ext cx="2103120" cy="1024128"/>
          </a:xfrm>
          <a:prstGeom prst="roundRect">
            <a:avLst>
              <a:gd name="adj" fmla="val 16000"/>
            </a:avLst>
          </a:prstGeom>
          <a:solidFill>
            <a:srgbClr val="EEF2F9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>
                <a:solidFill>
                  <a:srgbClr val="0B2545"/>
                </a:solidFill>
                <a:latin typeface="Prompt"/>
              </a:rPr>
              <a:t>213,166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6926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8"/>
                </a:solidFill>
                <a:latin typeface="Sarabun"/>
              </a:rPr>
              <a:t>Engagement รวม · 125 โพสต์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60020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600200"/>
            <a:ext cx="4160520" cy="548640"/>
          </a:xfrm>
          <a:prstGeom prst="roundRect">
            <a:avLst>
              <a:gd name="adj" fmla="val 16000"/>
            </a:avLst>
          </a:prstGeom>
          <a:solidFill>
            <a:srgbClr val="D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53527" y="1673352"/>
            <a:ext cx="402336" cy="402336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16550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1F30"/>
                </a:solidFill>
                <a:latin typeface="Prompt"/>
              </a:rPr>
              <a:t>Hygiene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90195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22 โพสต์ · เฉลี่ย 4,248/โพสต์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160020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0891B2"/>
                </a:solidFill>
                <a:latin typeface="Prompt"/>
              </a:rPr>
              <a:t>93,449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244852"/>
            <a:ext cx="4160520" cy="548640"/>
          </a:xfrm>
          <a:prstGeom prst="roundRect">
            <a:avLst>
              <a:gd name="adj" fmla="val 1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53527" y="2318004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2997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1F30"/>
                </a:solidFill>
                <a:latin typeface="Prompt"/>
              </a:rPr>
              <a:t>Downy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5466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5 โพสต์ · เฉลี่ย 15,075/โพสต์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244852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2563EB"/>
                </a:solidFill>
                <a:latin typeface="Prompt"/>
              </a:rPr>
              <a:t>75,374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889504"/>
            <a:ext cx="4160520" cy="548640"/>
          </a:xfrm>
          <a:prstGeom prst="roundRect">
            <a:avLst>
              <a:gd name="adj" fmla="val 1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53527" y="2962656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9443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1F30"/>
                </a:solidFill>
                <a:latin typeface="Prompt"/>
              </a:rPr>
              <a:t>Comfort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19125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19 โพสต์ · เฉลี่ย 1,256/โพสต์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889504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EA580C"/>
                </a:solidFill>
                <a:latin typeface="Prompt"/>
              </a:rPr>
              <a:t>23,863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3534156"/>
            <a:ext cx="4160520" cy="548640"/>
          </a:xfrm>
          <a:prstGeom prst="roundRect">
            <a:avLst>
              <a:gd name="adj" fmla="val 1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53527" y="3607308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35890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1F30"/>
                </a:solidFill>
                <a:latin typeface="Prompt"/>
              </a:rPr>
              <a:t>Breeze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38359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27 โพสต์ · เฉลี่ย 484/โพสต์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34156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7C3AED"/>
                </a:solidFill>
                <a:latin typeface="Prompt"/>
              </a:rPr>
              <a:t>13,054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178808"/>
            <a:ext cx="4160520" cy="548640"/>
          </a:xfrm>
          <a:prstGeom prst="roundRect">
            <a:avLst>
              <a:gd name="adj" fmla="val 1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53527" y="4251960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4233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1F30"/>
                </a:solidFill>
                <a:latin typeface="Prompt"/>
              </a:rPr>
              <a:t>PAO Society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448056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8 โพสต์ · เฉลี่ย 405/โพสต์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417880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16A34A"/>
                </a:solidFill>
                <a:latin typeface="Prompt"/>
              </a:rPr>
              <a:t>3,240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4823460"/>
            <a:ext cx="4160520" cy="548640"/>
          </a:xfrm>
          <a:prstGeom prst="roundRect">
            <a:avLst>
              <a:gd name="adj" fmla="val 1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53527" y="4896612"/>
            <a:ext cx="402336" cy="40233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592" y="48783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1F30"/>
                </a:solidFill>
                <a:latin typeface="Prompt"/>
              </a:rPr>
              <a:t>ATTACK Family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2" y="51252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23 โพสต์ · เฉลี่ย 89/โพสต์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82346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DB2777"/>
                </a:solidFill>
                <a:latin typeface="Prompt"/>
              </a:rPr>
              <a:t>2,039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3800" y="5468112"/>
            <a:ext cx="4160520" cy="548640"/>
          </a:xfrm>
          <a:prstGeom prst="roundRect">
            <a:avLst>
              <a:gd name="adj" fmla="val 1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53527" y="5541264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592" y="55229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1F30"/>
                </a:solidFill>
                <a:latin typeface="Prompt"/>
              </a:rPr>
              <a:t>Fineline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576986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19 โพสต์ · เฉลี่ย 98/โพสต์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468112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0D9488"/>
                </a:solidFill>
                <a:latin typeface="Prompt"/>
              </a:rPr>
              <a:t>1,872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43800" y="6112764"/>
            <a:ext cx="4160520" cy="548640"/>
          </a:xfrm>
          <a:prstGeom prst="roundRect">
            <a:avLst>
              <a:gd name="adj" fmla="val 1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653527" y="6185916"/>
            <a:ext cx="402336" cy="40233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61676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1F30"/>
                </a:solidFill>
                <a:latin typeface="Prompt"/>
              </a:rPr>
              <a:t>OMO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5592" y="641451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 โพสต์ · เฉลี่ย 138/โพสต์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6112764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DC2626"/>
                </a:solidFill>
                <a:latin typeface="Prompt"/>
              </a:rPr>
              <a:t>275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8"/>
                </a:solidFill>
                <a:latin typeface="Sarabun"/>
              </a:rPr>
              <a:t>Engagement = Likes/Reactions + Comments + Shares (ข้อมูลจากโพสต์สาธารณะ)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3657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Prompt"/>
              </a:rPr>
              <a:t>Hygiene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4124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8"/>
                </a:solidFill>
                <a:latin typeface="Sarabun"/>
              </a:rPr>
              <a:t>Top 5 คอนเทนต์ Engagement สูงสุด — พฤษภาคม 2569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0040"/>
            <a:ext cx="2103120" cy="960120"/>
          </a:xfrm>
          <a:prstGeom prst="roundRect">
            <a:avLst>
              <a:gd name="adj" fmla="val 16000"/>
            </a:avLst>
          </a:prstGeom>
          <a:solidFill>
            <a:srgbClr val="DCEFF4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420624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891B2"/>
                </a:solidFill>
                <a:latin typeface="Prompt"/>
              </a:rPr>
              <a:t>93,449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85953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8"/>
                </a:solidFill>
                <a:latin typeface="Sarabun"/>
              </a:rPr>
              <a:t>Total Engagement · 22 โพสต์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ygieneThailand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536192"/>
            <a:ext cx="1856231" cy="234086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21207" y="1453896"/>
            <a:ext cx="402336" cy="402336"/>
          </a:xfrm>
          <a:prstGeom prst="ellipse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👫 แฝดโมเน่โซล vs ไฮยีนคู่ซักปรับ มิลค์กี้ ทัช☁️✨ ดับเบิ้ลสะอาด ดับเบิ้ลห…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30,274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166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1422"/>
                </a:solidFill>
                <a:latin typeface="Prompt"/>
              </a:rPr>
              <a:t>30,568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ygieneThailand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536192"/>
            <a:ext cx="1856231" cy="2340864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807208" y="1453896"/>
            <a:ext cx="402336" cy="402336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ตากในร่ม☔️ ผ้าก็หอมมม ไม่อับ! 💙✨ เพราะโมเน่ใช้ ไฮยีน มิลค์กี้ ทัช ทู๊กกว…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13,556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CD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891B2"/>
                </a:solidFill>
                <a:latin typeface="Prompt"/>
              </a:rPr>
              <a:t>13,722 Total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HygieneThailand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3" y="1536192"/>
            <a:ext cx="1856231" cy="2340864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3207" y="1453896"/>
            <a:ext cx="402336" cy="402336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คืนชีวิตชุดเก่งให้เหมือนใหม่.. 👗✨ ด้วยไฮยีนซักผ้า และปรับผ้านุ่ม ซันคิส…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11,251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79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252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79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CD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891B2"/>
                </a:solidFill>
                <a:latin typeface="Prompt"/>
              </a:rPr>
              <a:t>11,559 Total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HygieneThailand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1536192"/>
            <a:ext cx="1856231" cy="2340864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7379208" y="1453896"/>
            <a:ext cx="402336" cy="402336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พี่ๆจ๋าา~ ตามใจโมเน่มั้ย? 💙 กดไฮยีน 5 เดอร์ 8 เดอร์ เล้ยยย หอมนานเจ้มจ้น…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10,982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54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32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CD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891B2"/>
                </a:solidFill>
                <a:latin typeface="Prompt"/>
              </a:rPr>
              <a:t>11,068 Total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92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HygieneThailand_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1536192"/>
            <a:ext cx="1856231" cy="2340864"/>
          </a:xfrm>
          <a:prstGeom prst="rect">
            <a:avLst/>
          </a:prstGeom>
        </p:spPr>
      </p:pic>
      <p:sp>
        <p:nvSpPr>
          <p:cNvPr id="62" name="Oval 61"/>
          <p:cNvSpPr/>
          <p:nvPr/>
        </p:nvSpPr>
        <p:spPr>
          <a:xfrm>
            <a:off x="9665208" y="1453896"/>
            <a:ext cx="402336" cy="402336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ชุดหอมไม่อับ! 🌸👗  ด้วยไฮยีน ปรับผ้านุ่มสูตรเข้มข้นพิเศษ กลิ่นซันคิส บลูม…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5,994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78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78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891B2"/>
                </a:solidFill>
                <a:latin typeface="Prompt"/>
              </a:rPr>
              <a:t>54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84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CD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891B2"/>
                </a:solidFill>
                <a:latin typeface="Prompt"/>
              </a:rPr>
              <a:t>6,057 Total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11733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8"/>
                </a:solidFill>
                <a:latin typeface="Sarabun"/>
              </a:rPr>
              <a:t>Total = Likes/Reactions + Comments + Shares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Prompt"/>
              </a:rPr>
              <a:t>Hygiene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96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C9DE"/>
                </a:solidFill>
                <a:latin typeface="Sarabun"/>
              </a:rPr>
              <a:t>บทวิเคราะห์คอนเทนต์ &amp; ข้อเสนอแนะเดือนถัดไป — วิเคราะห์จาก 22 โพสต์ในเดือน พ.ค.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043123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0431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👑 Engagement สูงสุดใน 8 เพจ (93,449)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56355" y="1463040"/>
            <a:ext cx="3043123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6355" y="1463040"/>
            <a:ext cx="30431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📹 วิดีโอครองเพจ 14/22 (เฉลี่ย 6,413)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4070" y="1463040"/>
            <a:ext cx="1675180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4070" y="1463040"/>
            <a:ext cx="16751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📅 วันเวิร์ก: พฤหัสฯ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265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109728" cy="4114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DD3FC"/>
                </a:solidFill>
                <a:latin typeface="Prompt"/>
              </a:rPr>
              <a:t>📊  บทวิเคราะห์คอนเทนต์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แชมป์ Engagement ของกลุ่มเดือนนี้ที่ 93,449 ขับด้วยวิดีโออย่างชัดเจน — 14 จาก 22 โพสต์เป็นวิดีโอ เฉลี่ย 6,413/คลิป สูงกว่ารูปนิ่ง (307) กว่า 20 เท่า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แคมเปญ collab “แฝดโมเน่โซล × ไฮยีน มิลค์กี้ ทัช” คือหัวหอก โพสต์เดียวทำ 30,568 และ Top 5 เป็นคลิปธีมกลิ่น (มิลค์กี้ ทัช / ซันคิส บลูมมิ่ง) ทั้งหมด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จุดขาย “ตากในร่มก็หอมไม่อับ” + presenter โมเน่ ตอบ pain point จริง แต่ Comment+Share รวมเพียง ~1.4% ผู้ชมยังดูแบบ passive ยังไม่เกิดบทสนทนา/บอกต่อ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7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148840"/>
            <a:ext cx="109728" cy="41148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19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Prompt"/>
              </a:rPr>
              <a:t>🚀  ควรทำต่อในเดือนถัดไป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19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7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เดินเกมวิดีโอ presenter/ธีมกลิ่นต่อเนื่อง โดยเฉพาะ collab ศิลปิน (โมเน่) ที่พิสูจน์แล้วว่าดึงยอดได้จริง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9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7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เพิ่ม CTA กระตุ้นคอมเมนต์/แชร์ (แท็กเพื่อนคู่ซัก, มินิเกมทายกลิ่น) เพื่อดัน engagement เชิงบทสนทนาที่ยังต่ำ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19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7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ยิงคลิปหลักช่วงพุธ–พฤหัสฯ (พีค) และลดสัดส่วนโพสต์รูป/ข้อความที่ให้ผลต่ำ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3657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Prompt"/>
              </a:rPr>
              <a:t>Downy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4124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8"/>
                </a:solidFill>
                <a:latin typeface="Sarabun"/>
              </a:rPr>
              <a:t>Top 5 คอนเทนต์ Engagement สูงสุด — พฤษภาคม 2569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0040"/>
            <a:ext cx="2103120" cy="960120"/>
          </a:xfrm>
          <a:prstGeom prst="roundRect">
            <a:avLst>
              <a:gd name="adj" fmla="val 16000"/>
            </a:avLst>
          </a:prstGeom>
          <a:solidFill>
            <a:srgbClr val="E0E9FC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420624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2563EB"/>
                </a:solidFill>
                <a:latin typeface="Prompt"/>
              </a:rPr>
              <a:t>75,374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85953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8"/>
                </a:solidFill>
                <a:latin typeface="Sarabun"/>
              </a:rPr>
              <a:t>Total Engagement · 5 โพสต์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wnyThailand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536192"/>
            <a:ext cx="1856231" cy="234086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21207" y="1453896"/>
            <a:ext cx="402336" cy="402336"/>
          </a:xfrm>
          <a:prstGeom prst="ellipse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ตัวช่วยกุลสตรีสมัยใหม่ ต้องดาวน์นี่ซันไรซ์ เฟรช สูตรอัพเกรดใหม่เท่านั้น…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48,762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370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1422"/>
                </a:solidFill>
                <a:latin typeface="Prompt"/>
              </a:rPr>
              <a:t>49,217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ownyThailand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536192"/>
            <a:ext cx="1856231" cy="2340864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807208" y="1453896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ความหอมสะอาดที่คลีนเกิร์ลขาดไม่ได้ ต้องดาวน์นี่ ซันไรซ์ เฟรช สูตรอัปเกรด…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11,968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116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275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D3D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2563EB"/>
                </a:solidFill>
                <a:latin typeface="Prompt"/>
              </a:rPr>
              <a:t>12,359 Total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ownyThailand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3" y="1536192"/>
            <a:ext cx="1856231" cy="2340864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3207" y="1453896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Downy Sunrise Fresh  หอมสะอาดแบบสาวคลีนเกิร์ล Outfit✅ Nice scent✅  #Down…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7,877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79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160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79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D3D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2563EB"/>
                </a:solidFill>
                <a:latin typeface="Prompt"/>
              </a:rPr>
              <a:t>8,102 Total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DownyThailand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1536192"/>
            <a:ext cx="1856231" cy="2340864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7379208" y="1453896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ผ้าหอมต้องตากแดดจริงไหม‼️  ใหม่ ดาวน์นี่ ลักซ์ สูตรหอมแดด☀️ หอมเหมือนตาก…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5,397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49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126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D3D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2563EB"/>
                </a:solidFill>
                <a:latin typeface="Prompt"/>
              </a:rPr>
              <a:t>5,572 Total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92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DownyThailand_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1536192"/>
            <a:ext cx="1856231" cy="2340864"/>
          </a:xfrm>
          <a:prstGeom prst="rect">
            <a:avLst/>
          </a:prstGeom>
        </p:spPr>
      </p:pic>
      <p:sp>
        <p:nvSpPr>
          <p:cNvPr id="62" name="Oval 61"/>
          <p:cNvSpPr/>
          <p:nvPr/>
        </p:nvSpPr>
        <p:spPr>
          <a:xfrm>
            <a:off x="9665208" y="1453896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ตัวหอม ห้องหอม…แล้วคนข้างๆจะไม่หวั่นไหวได้ไงอะ 💙💗✨   ช้อป Downy และ Ambi…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59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78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78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Prompt"/>
              </a:rPr>
              <a:t>45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84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D3D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2563EB"/>
                </a:solidFill>
                <a:latin typeface="Prompt"/>
              </a:rPr>
              <a:t>124 Total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11733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8"/>
                </a:solidFill>
                <a:latin typeface="Sarabun"/>
              </a:rPr>
              <a:t>Total = Likes/Reactions + Comments + Shares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Prompt"/>
              </a:rPr>
              <a:t>Downy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96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C9DE"/>
                </a:solidFill>
                <a:latin typeface="Sarabun"/>
              </a:rPr>
              <a:t>บทวิเคราะห์คอนเทนต์ &amp; ข้อเสนอแนะเดือนถัดไป — วิเคราะห์จาก 5 โพสต์ในเดือน พ.ค.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238451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2384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🔥 Avg/โพสต์สูงสุด (15,075)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1683" y="1463040"/>
            <a:ext cx="1836115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51683" y="1463040"/>
            <a:ext cx="18361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📹 วิดีโอเฉลี่ย 18,812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2390" y="1463040"/>
            <a:ext cx="1755647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390" y="1463040"/>
            <a:ext cx="17556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💥 คลิปเดียวทำ 49,217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265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109728" cy="4114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DD3FC"/>
                </a:solidFill>
                <a:latin typeface="Prompt"/>
              </a:rPr>
              <a:t>📊  บทวิเคราะห์คอนเทนต์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โพสต์น้อยแต่ทรงพลังที่สุด — เพียง 5 โพสต์ทำ 75,374 เฉลี่ย 15,075/โพสต์ สูงสุดในกลุ่ม โพสต์เดียว (7 พ.ค.) ทำถึง 49,217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แคมเปญ “ดาวน์นี่ ซันไรซ์ เฟรช สูตรอัปเกรด” ธีม #cleangirl ครอง Top 3 ทั้งหมด ต่อด้วย “ลักซ์ สูตรหอมแดด” (ตากในร่มก็หอม)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รูปนิ่งแทบไม่มีผล (เฉลี่ย 124) โมเดลของเพจคือคลิปคุณภาพจำนวนน้อยชิ้นแต่ยิงแรง เน้น production และคอนเซ็ปต์คม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7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148840"/>
            <a:ext cx="109728" cy="41148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19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Prompt"/>
              </a:rPr>
              <a:t>🚀  ควรทำต่อในเดือนถัดไป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19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7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โฟกัสวิดีโอแคมเปญคอนเซ็ปต์ชัด (#cleangirl / หอมแดด) แบบเดิม เพราะ ROI ต่อโพสต์สูงมาก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9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7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เพิ่มความถี่วิดีโอขึ้นเล็กน้อยจาก 5 โพสต์ เพื่อขยายฐานผู้ชม โดยคงคุณภาพงานสร้าง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19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7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กระตุ้นแชร์/บันทึกด้วยคอนเทนต์ไลฟ์แฮ็ก และยิงช่วงอังคาร–พฤหัสฯ ที่ engagement พีค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3657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Prompt"/>
              </a:rPr>
              <a:t>Comfort Zone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4124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8"/>
                </a:solidFill>
                <a:latin typeface="Sarabun"/>
              </a:rPr>
              <a:t>Top 5 คอนเทนต์ Engagement สูงสุด — พฤษภาคม 2569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0040"/>
            <a:ext cx="2103120" cy="960120"/>
          </a:xfrm>
          <a:prstGeom prst="roundRect">
            <a:avLst>
              <a:gd name="adj" fmla="val 16000"/>
            </a:avLst>
          </a:prstGeom>
          <a:solidFill>
            <a:srgbClr val="FCE7DC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420624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  <a:latin typeface="Prompt"/>
              </a:rPr>
              <a:t>23,863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85953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8"/>
                </a:solidFill>
                <a:latin typeface="Sarabun"/>
              </a:rPr>
              <a:t>Total Engagement · 19 โพสต์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fortZoneThailand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536192"/>
            <a:ext cx="1856231" cy="234086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21207" y="1453896"/>
            <a:ext cx="402336" cy="402336"/>
          </a:xfrm>
          <a:prstGeom prst="ellipse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เทคนิคผ้าหอมจนเด็กทัก🩵🤍 #ครูนิส  #หอมติดผ้าไม่ติดอับ  #บรีสคอมฟอร์ทเพียว…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9,973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1422"/>
                </a:solidFill>
                <a:latin typeface="Prompt"/>
              </a:rPr>
              <a:t>9,997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omfortZoneThailand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536192"/>
            <a:ext cx="1856231" cy="2340864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807208" y="1453896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🤍Flat2112 x Breeze Comfort Pure Happy!!🩵 Breeze &amp; Comfort Pure Happy ครบ…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6,209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AD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EA580C"/>
                </a:solidFill>
                <a:latin typeface="Prompt"/>
              </a:rPr>
              <a:t>6,227 Total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omfortZoneThailand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3" y="1536192"/>
            <a:ext cx="1856231" cy="2340864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3207" y="1453896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☁️ บรีสคอมฟอร์ทชวนทุกคนมาร่วมสร้างโมเมนต์สุดอบอุ่น! 🥰  กับแคมเปญ "แชร์โม…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2,624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79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37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79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AD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EA580C"/>
                </a:solidFill>
                <a:latin typeface="Prompt"/>
              </a:rPr>
              <a:t>2,694 Total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ComfortZoneThailand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1536192"/>
            <a:ext cx="1856231" cy="2340864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7379208" y="1453896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“อะไรเข้ากัน?”🤔 #ด้อมน้องดาริน #หอมติดผ้าไม่ติดอับ  #บรีสคอมฟอร์ทเพียวแฮ…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1,927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AD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EA580C"/>
                </a:solidFill>
                <a:latin typeface="Prompt"/>
              </a:rPr>
              <a:t>1,930 Total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92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omfortZoneThailand_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1536192"/>
            <a:ext cx="1856231" cy="2340864"/>
          </a:xfrm>
          <a:prstGeom prst="rect">
            <a:avLst/>
          </a:prstGeom>
        </p:spPr>
      </p:pic>
      <p:sp>
        <p:nvSpPr>
          <p:cNvPr id="62" name="Oval 61"/>
          <p:cNvSpPr/>
          <p:nvPr/>
        </p:nvSpPr>
        <p:spPr>
          <a:xfrm>
            <a:off x="9665208" y="1453896"/>
            <a:ext cx="402336" cy="402336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ootd ไปปากคลองตลาดกัน!👗🩵 #หอมติดผ้าไม่ติดอับ  #บรีสคอมฟอร์ทเพียวแฮปปี้ #…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931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78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78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Prompt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84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AD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EA580C"/>
                </a:solidFill>
                <a:latin typeface="Prompt"/>
              </a:rPr>
              <a:t>933 Total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11733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8"/>
                </a:solidFill>
                <a:latin typeface="Sarabun"/>
              </a:rPr>
              <a:t>Total = Likes/Reactions + Comments + Shares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Prompt"/>
              </a:rPr>
              <a:t>Comfort Zone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96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C9DE"/>
                </a:solidFill>
                <a:latin typeface="Sarabun"/>
              </a:rPr>
              <a:t>บทวิเคราะห์คอนเทนต์ &amp; ข้อเสนอแนะเดือนถัดไป — วิเคราะห์จาก 19 โพสต์ในเดือน พ.ค.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479852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4798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📈 พุ่งขึ้นมาอันดับ 3 (23,863)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93084" y="1463040"/>
            <a:ext cx="1755647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93084" y="1463040"/>
            <a:ext cx="17556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📹 วิดีโอเฉลี่ย 2,869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3324" y="1463040"/>
            <a:ext cx="1997049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13324" y="1463040"/>
            <a:ext cx="199704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🤝 collab อินฟลู #ครูนิส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265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109728" cy="4114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DD3FC"/>
                </a:solidFill>
                <a:latin typeface="Prompt"/>
              </a:rPr>
              <a:t>📊  บทวิเคราะห์คอนเทนต์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ฟื้นตัวเด่นเดือนนี้ที่ 23,863 จาก 19 โพสต์ — วิดีโอคือพระเอก เฉลี่ย 2,869 เทียบรูปนิ่งเพียง 315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คลิปอินฟลู/ครีเอเตอร์ (“เทคนิคผ้าหอมจนเด็กทัก #ครูนิส”, ด้อมน้องดาริน) และดีล Shopee (Flat2112) จุดยอดได้ดีที่สุด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คอนเทนต์ผูกกับ #บรีสคอมฟอร์ทเพียวแฮปปี้ สร้าง ecosystem ร่วมกับเพจ Breeze แต่ Comment/Share ยังบางมาก (&lt;1%)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7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148840"/>
            <a:ext cx="109728" cy="41148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19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Prompt"/>
              </a:rPr>
              <a:t>🚀  ควรทำต่อในเดือนถัดไป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19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7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ต่อยอดคลิป UGC/อินฟลูสายไลฟ์สไตล์ (OOTD, เทคนิคซักผ้า) ที่เป็นสูตรเวิร์กของเดือนนี้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9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7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จัดคอนเทนต์ร่วมแคมเปญกับ Breeze อย่างต่อเนื่องเพื่อดึง cross-page reach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19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7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ลงคลิปหลักวันจันทร์ (พีค) และเพิ่ม CTA โหวต/แชร์เพื่อดันบทสนทนาที่ยังน้อย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3657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Prompt"/>
              </a:rPr>
              <a:t>Breeze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4124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8"/>
                </a:solidFill>
                <a:latin typeface="Sarabun"/>
              </a:rPr>
              <a:t>Top 5 คอนเทนต์ Engagement สูงสุด — พฤษภาคม 2569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0040"/>
            <a:ext cx="2103120" cy="960120"/>
          </a:xfrm>
          <a:prstGeom prst="roundRect">
            <a:avLst>
              <a:gd name="adj" fmla="val 16000"/>
            </a:avLst>
          </a:prstGeom>
          <a:solidFill>
            <a:srgbClr val="ECE3FC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420624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  <a:latin typeface="Prompt"/>
              </a:rPr>
              <a:t>13,054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85953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8"/>
                </a:solidFill>
                <a:latin typeface="Sarabun"/>
              </a:rPr>
              <a:t>Total Engagement · 27 โพสต์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eezeThailand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536192"/>
            <a:ext cx="1856231" cy="234086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21207" y="1453896"/>
            <a:ext cx="402336" cy="402336"/>
          </a:xfrm>
          <a:prstGeom prst="ellipse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ทุกคนต่างพูดเป็นเสียงเดียวกัน บรีส สูตรซักด่วน ซักไวจริง หอมจริง ภายใน 1…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3,070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1422"/>
                </a:solidFill>
                <a:latin typeface="Prompt"/>
              </a:rPr>
              <a:t>3,085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omfortZoneThailand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536192"/>
            <a:ext cx="1856231" cy="2340864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807208" y="1453896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☁️ บรีสคอมฟอร์ทชวนทุกคนมาร่วมสร้างโมเมนต์สุดอบอุ่น! 🥰  กับแคมเปญ "แชร์โม…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2,624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E4D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7C3AED"/>
                </a:solidFill>
                <a:latin typeface="Prompt"/>
              </a:rPr>
              <a:t>2,694 Total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reezeThailand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3" y="1536192"/>
            <a:ext cx="1856231" cy="2340864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3207" y="1453896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ซักแล้วแมวชอบ แบบนี้ให้ผ่าน 🐱✔️ บรีส สูตรซักด่วน สะอาดหอมไว จบใน 15 นาที…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1,957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79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79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E4D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7C3AED"/>
                </a:solidFill>
                <a:latin typeface="Prompt"/>
              </a:rPr>
              <a:t>1,973 Total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BreezeThailand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1536192"/>
            <a:ext cx="1856231" cy="2340864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7379208" y="1453896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ชีวิตแอคทีฟแค่ไหนก็ไม่กลัวกลิ่นอับ 💦 เพราะบรีส สูตรซักด่วน ช่วยซักสะอาดห…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1,635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E4D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7C3AED"/>
                </a:solidFill>
                <a:latin typeface="Prompt"/>
              </a:rPr>
              <a:t>1,637 Total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92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BreezeThailand_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4" y="1536192"/>
            <a:ext cx="1856231" cy="2340864"/>
          </a:xfrm>
          <a:prstGeom prst="rect">
            <a:avLst/>
          </a:prstGeom>
        </p:spPr>
      </p:pic>
      <p:sp>
        <p:nvSpPr>
          <p:cNvPr id="62" name="Oval 61"/>
          <p:cNvSpPr/>
          <p:nvPr/>
        </p:nvSpPr>
        <p:spPr>
          <a:xfrm>
            <a:off x="9665208" y="1453896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เมื่อคืนยังเหม็นอับ 😭 แต่เช้านี้หอมจนเสื้อเหมือนอัปเกรดชีวิต ✨  บรีส สูต…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1,590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78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78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Prompt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84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E4D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7C3AED"/>
                </a:solidFill>
                <a:latin typeface="Prompt"/>
              </a:rPr>
              <a:t>1,595 Total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11733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8"/>
                </a:solidFill>
                <a:latin typeface="Sarabun"/>
              </a:rPr>
              <a:t>Total = Likes/Reactions + Comments + Shares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Prompt"/>
              </a:rPr>
              <a:t>Breeze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96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C9DE"/>
                </a:solidFill>
                <a:latin typeface="Sarabun"/>
              </a:rPr>
              <a:t>บทวิเคราะห์คอนเทนต์ &amp; ข้อเสนอแนะเดือนถัดไป — วิเคราะห์จาก 27 โพสต์ในเดือน พ.ค.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916582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91658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📮 โพสต์ถี่สุด 27 โพสต์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9814" y="1463040"/>
            <a:ext cx="1755647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9814" y="1463040"/>
            <a:ext cx="17556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📹 วิดีโอเฉลี่ย 1,141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0054" y="1463040"/>
            <a:ext cx="2318918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0054" y="1463040"/>
            <a:ext cx="23189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🧺 USP: ซักด่วนหอมไว 15 นาที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265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109728" cy="4114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DD3FC"/>
                </a:solidFill>
                <a:latin typeface="Prompt"/>
              </a:rPr>
              <a:t>📊  บทวิเคราะห์คอนเทนต์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โพสต์ถี่สุดในกลุ่ม (27) แต่ engagement เฉลี่ยต่ำ (484) สะท้อนคอนเทนต์กระจายมากแต่ยังไม่มีชิ้นระเบิด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สูตรที่เวิร์ก = วิดีโอตอกย้ำ USP “ซักด่วน หอมไว 15 นาที” (ตากกลางคืน, ชีวิตแอคทีฟ, แมวชอบ) เฉลี่ย 1,141 เหนือรูป (217) กว่า 5 เท่า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โพสต์แคมเปญร่วม Comfort (“แชร์โมเมนต์ หอมแฮปปี้”) ทำ Share สูงสุดของเพจ ชี้ว่า activation กระตุ้นการบอกต่อได้ดี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7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148840"/>
            <a:ext cx="109728" cy="41148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19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Prompt"/>
              </a:rPr>
              <a:t>🚀  ควรทำต่อในเดือนถัดไป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19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7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ลดสัดส่วนรูปนิ่ง เพิ่มวิดีโอ USP “15 นาที” ที่ให้ผลต่อโพสต์ดีกว่ารูปกว่า 5 เท่า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9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7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ทำคลิปซีรีส์สถานการณ์รีเลต (สัตว์เลี้ยง/ไลฟ์สไตล์แอคทีฟ) ต่อเนื่องเพื่อสร้างตัวจำ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19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7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โฟกัสโพสต์หลักวันศุกร์ (พีค) และต่อยอดแคมเปญร่วม Comfort เพื่อดัน 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3657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Prompt"/>
              </a:rPr>
              <a:t>PAO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4124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8"/>
                </a:solidFill>
                <a:latin typeface="Sarabun"/>
              </a:rPr>
              <a:t>Top 5 คอนเทนต์ Engagement สูงสุด — พฤษภาคม 2569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0040"/>
            <a:ext cx="2103120" cy="960120"/>
          </a:xfrm>
          <a:prstGeom prst="roundRect">
            <a:avLst>
              <a:gd name="adj" fmla="val 16000"/>
            </a:avLst>
          </a:prstGeom>
          <a:solidFill>
            <a:srgbClr val="DEF2E5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420624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  <a:latin typeface="Prompt"/>
              </a:rPr>
              <a:t>3,240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85953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8"/>
                </a:solidFill>
                <a:latin typeface="Sarabun"/>
              </a:rPr>
              <a:t>Total Engagement · 8 โพสต์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3" y="1536192"/>
            <a:ext cx="1856231" cy="2340864"/>
          </a:xfrm>
          <a:prstGeom prst="roundRect">
            <a:avLst>
              <a:gd name="adj" fmla="val 4000"/>
            </a:avLst>
          </a:prstGeom>
          <a:solidFill>
            <a:srgbClr val="DC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1536192"/>
            <a:ext cx="1856231" cy="23408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6A34A"/>
                </a:solidFill>
                <a:latin typeface="Sarabun"/>
              </a:rPr>
              <a:t>“</a:t>
            </a:r>
          </a:p>
          <a:p>
            <a:pPr algn="ctr"/>
            <a:r>
              <a:rPr sz="1100" b="1" i="0">
                <a:solidFill>
                  <a:srgbClr val="647488"/>
                </a:solidFill>
                <a:latin typeface="Sarabun"/>
              </a:rPr>
              <a:t>โพสต์ข้อความ</a:t>
            </a:r>
          </a:p>
        </p:txBody>
      </p:sp>
      <p:sp>
        <p:nvSpPr>
          <p:cNvPr id="11" name="Oval 10"/>
          <p:cNvSpPr/>
          <p:nvPr/>
        </p:nvSpPr>
        <p:spPr>
          <a:xfrm>
            <a:off x="521207" y="1453896"/>
            <a:ext cx="402336" cy="402336"/>
          </a:xfrm>
          <a:prstGeom prst="ellipse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กลิ่นหอมหรูดูแพง  ​VS​  กลิ่นสะอาดหอมละมุน​ ? กลิ่นไหนใช่คุณ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1,951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1422"/>
                </a:solidFill>
                <a:latin typeface="Prompt"/>
              </a:rPr>
              <a:t>1,984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aoSociety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1536192"/>
            <a:ext cx="1856231" cy="2340864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2807208" y="1453896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อย่าหยุดที่จะพัฒนา ไม่หยุดที่จะคิดทำสิ่งใหม่ ๆ เสมอ อย่าบล็อกตัวเองอยู่แ…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1,048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D0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  <a:latin typeface="Prompt"/>
              </a:rPr>
              <a:t>1,057 Total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aoSociety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3" y="1536192"/>
            <a:ext cx="1856231" cy="2340864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5093207" y="1453896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เบิร์นให้สุดตัว... อย่าให้กลิ่นเหงื่อมาหยุดความมั่นใจ! 🏃‍♀️✨​ ​ ใครเป็นบ…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129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79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79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12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D0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  <a:latin typeface="Prompt"/>
              </a:rPr>
              <a:t>130 Total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06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PaoSociety_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4" y="1536192"/>
            <a:ext cx="1856231" cy="2340864"/>
          </a:xfrm>
          <a:prstGeom prst="rect">
            <a:avLst/>
          </a:prstGeom>
        </p:spPr>
      </p:pic>
      <p:sp>
        <p:nvSpPr>
          <p:cNvPr id="50" name="Oval 49"/>
          <p:cNvSpPr/>
          <p:nvPr/>
        </p:nvSpPr>
        <p:spPr>
          <a:xfrm>
            <a:off x="7379208" y="1453896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หน้าร้อนแบบนี้ นาทีทองของคนชอบซัก  ☀️🧺 ​ ​ ครอบครัวบิ๊กไซซ์ ซักบ่อย ซักเ…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43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D0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  <a:latin typeface="Prompt"/>
              </a:rPr>
              <a:t>44 Total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2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PaoSociety_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4" y="1536192"/>
            <a:ext cx="1856231" cy="2340864"/>
          </a:xfrm>
          <a:prstGeom prst="rect">
            <a:avLst/>
          </a:prstGeom>
        </p:spPr>
      </p:pic>
      <p:sp>
        <p:nvSpPr>
          <p:cNvPr id="63" name="Oval 62"/>
          <p:cNvSpPr/>
          <p:nvPr/>
        </p:nvSpPr>
        <p:spPr>
          <a:xfrm>
            <a:off x="9665208" y="1453896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Gen ไหนแข่งกันไม่สำคัญ เพราะเปาอยู่ข้างคนทุก Gen 😜✨ .​ สั่งซื้อออนไลน์ได…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13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78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78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Prompt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784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D0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84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  <a:latin typeface="Prompt"/>
              </a:rPr>
              <a:t>13 Total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11733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8"/>
                </a:solidFill>
                <a:latin typeface="Sarabun"/>
              </a:rPr>
              <a:t>Total = Likes/Reactions + Comments + Shares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Prompt"/>
              </a:rPr>
              <a:t>PAO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96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C9DE"/>
                </a:solidFill>
                <a:latin typeface="Sarabun"/>
              </a:rPr>
              <a:t>บทวิเคราะห์คอนเทนต์ &amp; ข้อเสนอแนะเดือนถัดไป — วิเคราะห์จาก 8 โพสต์ในเดือน พ.ค.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077516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0775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💬 โพสต์คำถาม VS ทำ 1,984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0748" y="1463040"/>
            <a:ext cx="1916582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90748" y="1463040"/>
            <a:ext cx="191658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📝 ข้อความเวิร์กกว่ารูป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1923" y="1463040"/>
            <a:ext cx="2238451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1923" y="1463040"/>
            <a:ext cx="22384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⚠️ ยอดรวมเบาลงจากเดือนก่อน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265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109728" cy="4114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DD3FC"/>
                </a:solidFill>
                <a:latin typeface="Prompt"/>
              </a:rPr>
              <a:t>📊  บทวิเคราะห์คอนเทนต์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เดือนนี้เบาลงที่ 3,240 จาก 8 โพสต์ — ตัวชูโรงคือโพสต์ข้อความชวนเลือก “กลิ่นหอมหรูดูแพง VS กลิ่นสะอาดหอมละมุน” (1,984)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ยืนยันสูตรเดิมของเพจ: คอนเทนต์ชวนถกเถียง/ถามความเห็น จุดติดได้ดีกว่ารูปโปรโมตสินค้าทั่วไป (ข้อความเฉลี่ย 1,984 vs รูป 202)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โพสต์รูปสินค้า/โปรฯ ส่วนใหญ่ยังเงียบ (13–130) ฐาน engagement ยังพึ่งไวรัลเป็นครั้งคราวและความถี่โพสต์ต่ำ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7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148840"/>
            <a:ext cx="109728" cy="41148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19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Prompt"/>
              </a:rPr>
              <a:t>🚀  ควรทำต่อในเดือนถัดไป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19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7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ทำซีรีส์ “VS / ชวนโหวต / ถามความเห็น” ประจำ เพราะจุด engagement ได้จริงด้วยต้นทุนต่ำ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9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7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เพิ่มความถี่และความสม่ำเสมอของคอนเทนต์ (เดือนนี้มีเพียง 8 โพสต์)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19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7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ทดลองแปลงคอนเทนต์ยอดฮิตเป็นวิดีโอสั้น และยิงวันศุกร์ (พีค)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3657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Prompt"/>
              </a:rPr>
              <a:t>ATTACK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4124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8"/>
                </a:solidFill>
                <a:latin typeface="Sarabun"/>
              </a:rPr>
              <a:t>Top 5 คอนเทนต์ Engagement สูงสุด — พฤษภาคม 2569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0040"/>
            <a:ext cx="2103120" cy="960120"/>
          </a:xfrm>
          <a:prstGeom prst="roundRect">
            <a:avLst>
              <a:gd name="adj" fmla="val 16000"/>
            </a:avLst>
          </a:prstGeom>
          <a:solidFill>
            <a:srgbClr val="F9E0EB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420624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B2777"/>
                </a:solidFill>
                <a:latin typeface="Prompt"/>
              </a:rPr>
              <a:t>2,039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85953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8"/>
                </a:solidFill>
                <a:latin typeface="Sarabun"/>
              </a:rPr>
              <a:t>Total Engagement · 23 โพสต์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TTACKFamily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536192"/>
            <a:ext cx="1856231" cy="234086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21207" y="1453896"/>
            <a:ext cx="402336" cy="402336"/>
          </a:xfrm>
          <a:prstGeom prst="ellipse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แอทแทค อีซี่ ฉลอง 20 ปี 🎉 แจกทองรัวๆ รวยชัวร์ทุกวัน! 💛✨  ผู้โชคดีคนต่อไป…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347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1422"/>
                </a:solidFill>
                <a:latin typeface="Prompt"/>
              </a:rPr>
              <a:t>369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TTACKFamily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536192"/>
            <a:ext cx="1856231" cy="2340864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807208" y="1453896"/>
            <a:ext cx="402336" cy="40233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เสื้อน้องโฟ้ดแมสมาก ใครไม่มีทนได้ไงแม่ 😭​ แม่น้องโฟ้ดเอฟกันฉ่ำ ตัวมารดาซ…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179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DB2777"/>
                </a:solidFill>
                <a:latin typeface="Prompt"/>
              </a:rPr>
              <a:t>194 Total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TTACKFamily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3" y="1536192"/>
            <a:ext cx="1856231" cy="2340864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3207" y="1453896"/>
            <a:ext cx="402336" cy="40233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💌 จดหมายด่วนที่สุด! จากน้องโฟ้ดโฟ้ด ถึง มัมหมีที่น่ารัก 🫶​  ฮัลโหลลลลมัม…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184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79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79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DB2777"/>
                </a:solidFill>
                <a:latin typeface="Prompt"/>
              </a:rPr>
              <a:t>186 Total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ATTACKFamily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1536192"/>
            <a:ext cx="1856231" cy="2340864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7379208" y="1453896"/>
            <a:ext cx="402336" cy="40233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คนเทสต์ดีเขาไม่มานั่งเลือก เพราะเหมาเลยทั้ง 2 ลาย 🔥  แมตช์ได้ลุคแกลม ลุค…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148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DB2777"/>
                </a:solidFill>
                <a:latin typeface="Prompt"/>
              </a:rPr>
              <a:t>154 Total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92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ATTACKFamily_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1536192"/>
            <a:ext cx="1856231" cy="2340864"/>
          </a:xfrm>
          <a:prstGeom prst="rect">
            <a:avLst/>
          </a:prstGeom>
        </p:spPr>
      </p:pic>
      <p:sp>
        <p:nvSpPr>
          <p:cNvPr id="62" name="Oval 61"/>
          <p:cNvSpPr/>
          <p:nvPr/>
        </p:nvSpPr>
        <p:spPr>
          <a:xfrm>
            <a:off x="9665208" y="1453896"/>
            <a:ext cx="402336" cy="40233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ไอเราก็อยากรวยซะด้วย พอแอทแทคอีซี่แจกทองแบบนี้ก็ว้าวุ่นเลย! 😁👍​ มีทองให้…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128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78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78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B2777"/>
                </a:solidFill>
                <a:latin typeface="Prompt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84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DB2777"/>
                </a:solidFill>
                <a:latin typeface="Prompt"/>
              </a:rPr>
              <a:t>139 Total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11733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8"/>
                </a:solidFill>
                <a:latin typeface="Sarabun"/>
              </a:rPr>
              <a:t>Total = Likes/Reactions + Comments + Shares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Prompt"/>
              </a:rPr>
              <a:t>ATTACK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96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C9DE"/>
                </a:solidFill>
                <a:latin typeface="Sarabun"/>
              </a:rPr>
              <a:t>บทวิเคราะห์คอนเทนต์ &amp; ข้อเสนอแนะเดือนถัดไป — วิเคราะห์จาก 23 โพสต์ในเดือน พ.ค.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399385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39938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🎁 แคมเปญ “ฉลอง 20 ปี แจกทอง”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2617" y="1463040"/>
            <a:ext cx="1836115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2617" y="1463040"/>
            <a:ext cx="183611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🖼️ รูปเป็นฟอร์แมตหลัก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3324" y="1463040"/>
            <a:ext cx="2640787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13324" y="1463040"/>
            <a:ext cx="26407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⚠️ Engagement เฉลี่ยต่ำสุด (89)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265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109728" cy="4114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DD3FC"/>
                </a:solidFill>
                <a:latin typeface="Prompt"/>
              </a:rPr>
              <a:t>📊  บทวิเคราะห์คอนเทนต์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โพสต์เยอะ (23) แต่ engagement เฉลี่ยต่ำสุดในกลุ่ม (89) รูปและวิดีโอให้ผลใกล้กัน (94 / 77) ยังไม่มีฟอร์แมตที่โดดชัด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แคมเปญ “แอทแทค อีซี่ ฉลอง 20 ปี แจกทอง” (คลิป 369) + คอนเทนต์ presenter น้องโฟ้ด ทำผลดีสุดของเพจ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Share ค่อนข้างเด่นเมื่อเทียบยอดรวม (130) สะท้อนว่ากลไกแจกรางวัลช่วยกระตุ้นการบอกต่อได้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7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148840"/>
            <a:ext cx="109728" cy="41148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19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Prompt"/>
              </a:rPr>
              <a:t>🚀  ควรทำต่อในเดือนถัดไป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19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7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ต่อยอดแคมเปญแจกทอง/ลุ้นรางวัลที่กระตุ้น Share และตั้งกติกาให้แท็ก/แชร์เพื่อขยาย 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9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7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ยกระดับ production วิดีโอ presenter (น้องโฟ้ด) ให้เป็นซีรีส์ที่จดจำได้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19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7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คัดโพสต์คุณภาพแทนปริมาณ และยิงคอนเทนต์หลักวันอังคาร (พีค)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3657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Prompt"/>
              </a:rPr>
              <a:t>Fineline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4124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8"/>
                </a:solidFill>
                <a:latin typeface="Sarabun"/>
              </a:rPr>
              <a:t>Top 5 คอนเทนต์ Engagement สูงสุด — พฤษภาคม 2569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0040"/>
            <a:ext cx="2103120" cy="960120"/>
          </a:xfrm>
          <a:prstGeom prst="roundRect">
            <a:avLst>
              <a:gd name="adj" fmla="val 16000"/>
            </a:avLst>
          </a:prstGeom>
          <a:solidFill>
            <a:srgbClr val="DDF0EE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420624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D9488"/>
                </a:solidFill>
                <a:latin typeface="Prompt"/>
              </a:rPr>
              <a:t>1,872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85953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8"/>
                </a:solidFill>
                <a:latin typeface="Sarabun"/>
              </a:rPr>
              <a:t>Total Engagement · 19 โพสต์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nelineThailand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536192"/>
            <a:ext cx="1856231" cy="234086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21207" y="1453896"/>
            <a:ext cx="402336" cy="402336"/>
          </a:xfrm>
          <a:prstGeom prst="ellipse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จบไปแล้วกับงาน Fineline Power Clean ซักให้คลีน หอมให้เคลิ้ม… แล้วไปใกล้ช…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382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1422"/>
                </a:solidFill>
                <a:latin typeface="Prompt"/>
              </a:rPr>
              <a:t>507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nelineThailand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536192"/>
            <a:ext cx="1856231" cy="2340864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807208" y="1453896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ไฟน์ไลน์ถุงหอม แขวนตรงไหนก็หอมมมม ใหม่! Fineline Perfume Bag 🌸   ช้อปเลย…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387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CE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D9488"/>
                </a:solidFill>
                <a:latin typeface="Prompt"/>
              </a:rPr>
              <a:t>399 Total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inelineThailand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3" y="1536192"/>
            <a:ext cx="1856231" cy="2340864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5093207" y="1453896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ยิ่งหน้าร้อน + เหงื่อ + ตากผ้าไม่แห้งสนิท = กลิ่นอับสะสม  จัดการด้วย! ให…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182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79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79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CE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D9488"/>
                </a:solidFill>
                <a:latin typeface="Prompt"/>
              </a:rPr>
              <a:t>186 Total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FinelineThailand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4" y="1536192"/>
            <a:ext cx="1856231" cy="2340864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7379208" y="1453896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ใหม่! ไฟน์ไลน์ สเปรย์หอมฉีดผ้า 2IN1 💦❄️_x000B_หอมสดชื่น + เย็นซู่ทันทีที่ฉีด!…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138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79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CE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D9488"/>
                </a:solidFill>
                <a:latin typeface="Prompt"/>
              </a:rPr>
              <a:t>142 Total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92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FinelineThailand_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4" y="1536192"/>
            <a:ext cx="1856231" cy="2340864"/>
          </a:xfrm>
          <a:prstGeom prst="rect">
            <a:avLst/>
          </a:prstGeom>
        </p:spPr>
      </p:pic>
      <p:sp>
        <p:nvSpPr>
          <p:cNvPr id="62" name="Oval 61"/>
          <p:cNvSpPr/>
          <p:nvPr/>
        </p:nvSpPr>
        <p:spPr>
          <a:xfrm>
            <a:off x="9665208" y="1453896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ซักสะอาด ขจัดคราบและกลิ่นเหงื่อ 💦 ลองเลย! ไฟน์ไลน์ ซักผ้า คูลลิ่ง เฟรช ส…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120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78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78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Prompt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84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CE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84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D9488"/>
                </a:solidFill>
                <a:latin typeface="Prompt"/>
              </a:rPr>
              <a:t>123 Total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11733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8"/>
                </a:solidFill>
                <a:latin typeface="Sarabun"/>
              </a:rPr>
              <a:t>Total = Likes/Reactions + Comments + Shares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Prompt"/>
              </a:rPr>
              <a:t>Fineline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96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C9DE"/>
                </a:solidFill>
                <a:latin typeface="Sarabun"/>
              </a:rPr>
              <a:t>บทวิเคราะห์คอนเทนต์ &amp; ข้อเสนอแนะเดือนถัดไป — วิเคราะห์จาก 19 โพสต์ในเดือน พ.ค.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962656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🎉 อีเวนต์ Power Clean ทำคอมเมนต์สูง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5887" y="1463040"/>
            <a:ext cx="2479852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7" y="1463040"/>
            <a:ext cx="24798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🆕 เปิดตัวสินค้าใหม่หลายรายการ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0332" y="1463040"/>
            <a:ext cx="2399385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0332" y="1463040"/>
            <a:ext cx="239938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⚠️ Engagement เฉลี่ยต่ำ (99)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265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109728" cy="4114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DD3FC"/>
                </a:solidFill>
                <a:latin typeface="Prompt"/>
              </a:rPr>
              <a:t>📊  บทวิเคราะห์คอนเทนต์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เดือนนี้ 1,872 จาก 19 โพสต์ เฉลี่ย 99 — โพสต์อีเวนต์ “Fineline Power Clean” (พบศิลปินไรอัล) ทำคอมเมนต์สูงสุดของเพจ (93)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คอนเทนต์เน้นเปิดตัวสินค้าใหม่เชิงฟังก์ชัน (ถุงหอม, สเปรย์ 2in1, คูลลิ่ง เฟรช) วิดีโอเฉลี่ยดีสุด (150) แต่ยอดโดยรวมยังต่ำ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จุดแข็งคือการผูกศิลปิน/อีเวนต์กระตุ้นบทสนทนา — Comment รวม 130 สูงกว่าหลายเพจที่มียอด likes มากกว่า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7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148840"/>
            <a:ext cx="109728" cy="41148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19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Prompt"/>
              </a:rPr>
              <a:t>🚀  ควรทำต่อในเดือนถัดไป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19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7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ใช้ศิลปิน/พรีเซนเตอร์ + กิจกรรมมีส่วนร่วม (มีต, ลุ้นบัตร) เป็นแม่เหล็ก engagement หลัก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9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7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แปลงการเปิดตัวสินค้าเป็นวิดีโอสาธิต pain-point (“กลิ่นอับหน้าร้อน”) แทนรูปโปรโมตนิ่ง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19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7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ยิงคอนเทนต์หลักวันพุธ (พีค) และใส่ CTA ถามความเห็นเพื่อรักษาจุดแข็งด้านคอมเมนต์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3657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Prompt"/>
              </a:rPr>
              <a:t>OMO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4124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47488"/>
                </a:solidFill>
                <a:latin typeface="Sarabun"/>
              </a:rPr>
              <a:t>Top 5 คอนเทนต์ Engagement สูงสุด — พฤษภาคม 2569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0040"/>
            <a:ext cx="2103120" cy="960120"/>
          </a:xfrm>
          <a:prstGeom prst="roundRect">
            <a:avLst>
              <a:gd name="adj" fmla="val 16000"/>
            </a:avLst>
          </a:prstGeom>
          <a:solidFill>
            <a:srgbClr val="FAE0E0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55480" y="420624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  <a:latin typeface="Prompt"/>
              </a:rPr>
              <a:t>275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85953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8"/>
                </a:solidFill>
                <a:latin typeface="Sarabun"/>
              </a:rPr>
              <a:t>Total Engagement · 2 โพสต์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MOThailand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536192"/>
            <a:ext cx="1856231" cy="234086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21207" y="1453896"/>
            <a:ext cx="402336" cy="402336"/>
          </a:xfrm>
          <a:prstGeom prst="ellipse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หอมลูกรักธรรมชาติแบบพีพี🤫🍃  ใหม่! โอโม พลัส คอตตอน บลูม💚🫧  หอมคลีนเบาสบา…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Prompt"/>
              </a:rPr>
              <a:t>224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Prompt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Prompt"/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B1422"/>
                </a:solidFill>
                <a:latin typeface="Prompt"/>
              </a:rPr>
              <a:t>263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1481328"/>
            <a:ext cx="1965960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0000" dist="240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MOThailand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536192"/>
            <a:ext cx="1856231" cy="2340864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807208" y="1453896"/>
            <a:ext cx="402336" cy="40233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9319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47488"/>
                </a:solidFill>
                <a:latin typeface="Sarabun"/>
              </a:rPr>
              <a:t>2026-05-30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133087"/>
            <a:ext cx="1783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61F30"/>
                </a:solidFill>
                <a:latin typeface="Sarabun"/>
              </a:rPr>
              <a:t>🌈 Pride Month นี้ โอโมชวนทุกคน Shine On ในแบบของตัวเอง ✨ ไม่ว่าคุณจะเป็น…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Prompt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Likes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Prompt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Comments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86460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Promp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1149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47488"/>
                </a:solidFill>
                <a:latin typeface="Sarabun"/>
              </a:rPr>
              <a:t>Shares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5376672"/>
            <a:ext cx="1783080" cy="384048"/>
          </a:xfrm>
          <a:prstGeom prst="roundRect">
            <a:avLst>
              <a:gd name="adj" fmla="val 22000"/>
            </a:avLst>
          </a:prstGeom>
          <a:solidFill>
            <a:srgbClr val="F8D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3766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  <a:latin typeface="Prompt"/>
              </a:rPr>
              <a:t>12 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1733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647488"/>
                </a:solidFill>
                <a:latin typeface="Sarabun"/>
              </a:rPr>
              <a:t>Total = Likes/Reactions + Comments + Shares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Prompt"/>
              </a:rPr>
              <a:t>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Prompt"/>
              </a:rPr>
              <a:t>OMO Thailand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896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C9DE"/>
                </a:solidFill>
                <a:latin typeface="Sarabun"/>
              </a:rPr>
              <a:t>บทวิเคราะห์คอนเทนต์ &amp; ข้อเสนอแนะเดือนถัดไป — วิเคราะห์จาก 2 โพสต์ในเดือน พ.ค.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157984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1579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⚠️ โพสต์น้อยมาก (2 โพสต์)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1463040"/>
            <a:ext cx="1916582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1463040"/>
            <a:ext cx="191658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📹 คลิปสินค้าใหม่ทำ 263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2390" y="1463040"/>
            <a:ext cx="1916582" cy="384048"/>
          </a:xfrm>
          <a:prstGeom prst="roundRect">
            <a:avLst>
              <a:gd name="adj" fmla="val 30000"/>
            </a:avLst>
          </a:prstGeom>
          <a:solidFill>
            <a:srgbClr val="111A2E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2390" y="1463040"/>
            <a:ext cx="191658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C7D6EA"/>
                </a:solidFill>
                <a:latin typeface="Sarabun"/>
              </a:rPr>
              <a:t>🌈 คอนเทนต์ Pride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265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109728" cy="4114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DD3FC"/>
                </a:solidFill>
                <a:latin typeface="Prompt"/>
              </a:rPr>
              <a:t>📊  บทวิเคราะห์คอนเทนต์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เดือนนี้มีเพียง 2 โพสต์ ยอดรวม 275 ตัวเลขจึงเป็นเพียงกลุ่มตัวอย่างจำกัด ยังไม่สะท้อนศักยภาพจริงของเพจ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คลิปเปิดตัว “โอโม พลัส คอตตอน บลูม” ทำได้ 263 (มี Comment/Share พอควร) ขณะโพสต์รูป Pride Month แทบเงียบ (12)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Sarabun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DCE6F2"/>
                </a:solidFill>
                <a:latin typeface="Sarabun"/>
              </a:rPr>
              <a:t>สัญญาณคือวิดีโอสินค้าใหม่ยังพอไปได้ แต่ความถี่โพสต์ต่ำเกินกว่าจะสร้างโมเมนตัมให้เพจ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14884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15875">
            <a:solidFill>
              <a:srgbClr val="7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148840"/>
            <a:ext cx="109728" cy="4114800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19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CD34D"/>
                </a:solidFill>
                <a:latin typeface="Prompt"/>
              </a:rPr>
              <a:t>🚀  ควรทำต่อในเดือนถัดไป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19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7" y="2971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เพิ่มความถี่โพสต์อย่างมีนัยสำคัญ (เดือนนี้เพียง 2) เพื่อสร้าง presence และมีข้อมูลพอประเมินผล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9" y="403250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7" y="4032504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โฟกัสวิดีโอสินค้าใหม่ (คอตตอน บลูม) ที่ยังพอมีแรง พร้อมเพิ่ม CTA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19" y="5093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Sarabun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7" y="5093208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7D2"/>
                </a:solidFill>
                <a:latin typeface="Sarabun"/>
              </a:rPr>
              <a:t>วางปฏิทินคอนเทนต์สม่ำเสมอรายสัปดาห์ก่อนลงทุนแคมเปญใหญ่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7119" y="6035040"/>
            <a:ext cx="2377440" cy="2377440"/>
          </a:xfrm>
          <a:prstGeom prst="ellipse">
            <a:avLst/>
          </a:prstGeom>
          <a:noFill/>
          <a:ln w="2032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68680" y="-868680"/>
            <a:ext cx="1188720" cy="1188720"/>
          </a:xfrm>
          <a:prstGeom prst="ellipse">
            <a:avLst/>
          </a:prstGeom>
          <a:noFill/>
          <a:ln w="20320">
            <a:solidFill>
              <a:srgbClr val="1E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Prompt"/>
              </a:rPr>
              <a:t>หมายเหตุข้อมูล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72768"/>
            <a:ext cx="685800" cy="54864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84831"/>
            <a:ext cx="128016" cy="12801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002536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3EEF4"/>
                </a:solidFill>
                <a:latin typeface="Sarabun"/>
              </a:rPr>
              <a:t>ข้อมูลดึงจากโพสต์สาธารณะบนเพจ Facebook ผ่านเครื่องมือสแครปข้อมูล (Apify) ไม่ใช่ตัวเลขจาก Facebook Page Insights โดยตรง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128016" cy="12801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935224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3EEF4"/>
                </a:solidFill>
                <a:latin typeface="Sarabun"/>
              </a:rPr>
              <a:t>Engagement นับจาก Likes/Reactions + Comments + Shares ของแต่ละโพสต์ ไม่รวม Reach, Impressions หรือ Click ซึ่งดูได้จาก Insights เท่านั้น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50208"/>
            <a:ext cx="128016" cy="12801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867912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3EEF4"/>
                </a:solidFill>
                <a:latin typeface="Sarabun"/>
              </a:rPr>
              <a:t>ช่วงข้อมูล: 1–31 พฤษภาคม 2569 (May 2026) · จำนวนโพสต์ที่ดึงได้ต่อเพจอาจต่างกันตามความถี่การโพสต์จริง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882896"/>
            <a:ext cx="128016" cy="128016"/>
          </a:xfrm>
          <a:prstGeom prst="rect">
            <a:avLst/>
          </a:prstGeom>
          <a:solidFill>
            <a:srgbClr val="FCA3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8006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3EEF4"/>
                </a:solidFill>
                <a:latin typeface="Sarabun"/>
              </a:rPr>
              <a:t>เพจที่มีจำนวนโพสต์น้อย ตัวเลขจึงสะท้อนช่วงตัวอย่างที่จำกัด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